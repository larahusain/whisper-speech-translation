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57" r:id="rId3"/>
    <p:sldId id="268" r:id="rId4"/>
    <p:sldId id="267" r:id="rId5"/>
    <p:sldId id="260" r:id="rId6"/>
    <p:sldId id="261" r:id="rId7"/>
    <p:sldId id="263" r:id="rId8"/>
    <p:sldId id="258" r:id="rId9"/>
    <p:sldId id="259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1"/>
    <p:restoredTop sz="94672"/>
  </p:normalViewPr>
  <p:slideViewPr>
    <p:cSldViewPr snapToGrid="0">
      <p:cViewPr>
        <p:scale>
          <a:sx n="112" d="100"/>
          <a:sy n="112" d="100"/>
        </p:scale>
        <p:origin x="584" y="192"/>
      </p:cViewPr>
      <p:guideLst/>
    </p:cSldViewPr>
  </p:slideViewPr>
  <p:outlineViewPr>
    <p:cViewPr>
      <p:scale>
        <a:sx n="33" d="100"/>
        <a:sy n="33" d="100"/>
      </p:scale>
      <p:origin x="0" y="-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2BDB76-3910-454C-BCE4-540157864E4F}" type="doc">
      <dgm:prSet loTypeId="urn:microsoft.com/office/officeart/2005/8/layout/process1" loCatId="process" qsTypeId="urn:microsoft.com/office/officeart/2005/8/quickstyle/simple3" qsCatId="simple" csTypeId="urn:microsoft.com/office/officeart/2005/8/colors/accent0_1" csCatId="mainScheme" phldr="1"/>
      <dgm:spPr/>
    </dgm:pt>
    <dgm:pt modelId="{B31943E4-1975-D547-88AD-80DC66E1AC78}">
      <dgm:prSet phldrT="[Text]"/>
      <dgm:spPr/>
      <dgm:t>
        <a:bodyPr/>
        <a:lstStyle/>
        <a:p>
          <a:pPr>
            <a:buNone/>
          </a:pPr>
          <a:r>
            <a:rPr lang="en-CN" dirty="0">
              <a:latin typeface="Times New Roman" panose="02020603050405020304" pitchFamily="18" charset="0"/>
              <a:cs typeface="Times New Roman" panose="02020603050405020304" pitchFamily="18" charset="0"/>
            </a:rPr>
            <a:t>Cantonese / Azerbaijani Speech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3B447D-7156-AF4E-8578-0CED8192D315}" type="parTrans" cxnId="{180EB902-847C-8C46-8DE4-7E93503FE394}">
      <dgm:prSet/>
      <dgm:spPr/>
      <dgm:t>
        <a:bodyPr/>
        <a:lstStyle/>
        <a:p>
          <a:endParaRPr lang="en-US"/>
        </a:p>
      </dgm:t>
    </dgm:pt>
    <dgm:pt modelId="{3D5B17BB-6E6F-734B-BB63-9517B21606A2}" type="sibTrans" cxnId="{180EB902-847C-8C46-8DE4-7E93503FE394}">
      <dgm:prSet/>
      <dgm:spPr/>
      <dgm:t>
        <a:bodyPr/>
        <a:lstStyle/>
        <a:p>
          <a:endParaRPr lang="en-US"/>
        </a:p>
      </dgm:t>
    </dgm:pt>
    <dgm:pt modelId="{DD31DF21-11D7-1446-AFC1-9378806A0F2B}">
      <dgm:prSet phldrT="[Text]"/>
      <dgm:spPr/>
      <dgm:t>
        <a:bodyPr/>
        <a:lstStyle/>
        <a:p>
          <a:pPr>
            <a:buNone/>
          </a:pPr>
          <a:r>
            <a:rPr lang="en-CN" dirty="0">
              <a:latin typeface="Times New Roman" panose="02020603050405020304" pitchFamily="18" charset="0"/>
              <a:cs typeface="Times New Roman" panose="02020603050405020304" pitchFamily="18" charset="0"/>
            </a:rPr>
            <a:t>Pretrained Whisper Small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7A1BB7-621E-8D41-9586-46DF89489E3A}" type="parTrans" cxnId="{1FB8B3F1-CE3D-4C45-98C2-C9805FE462FB}">
      <dgm:prSet/>
      <dgm:spPr/>
      <dgm:t>
        <a:bodyPr/>
        <a:lstStyle/>
        <a:p>
          <a:endParaRPr lang="en-US"/>
        </a:p>
      </dgm:t>
    </dgm:pt>
    <dgm:pt modelId="{30C1FF5A-5AC3-E849-B9C4-7484F6904501}" type="sibTrans" cxnId="{1FB8B3F1-CE3D-4C45-98C2-C9805FE462FB}">
      <dgm:prSet/>
      <dgm:spPr/>
      <dgm:t>
        <a:bodyPr/>
        <a:lstStyle/>
        <a:p>
          <a:endParaRPr lang="en-US"/>
        </a:p>
      </dgm:t>
    </dgm:pt>
    <dgm:pt modelId="{BDB69943-89DA-6B4A-9230-E827E5325A85}">
      <dgm:prSet phldrT="[Text]"/>
      <dgm:spPr/>
      <dgm:t>
        <a:bodyPr/>
        <a:lstStyle/>
        <a:p>
          <a:pPr>
            <a:buNone/>
          </a:pPr>
          <a:r>
            <a:rPr lang="en-CN" dirty="0">
              <a:latin typeface="Times New Roman" panose="02020603050405020304" pitchFamily="18" charset="0"/>
              <a:cs typeface="Times New Roman" panose="02020603050405020304" pitchFamily="18" charset="0"/>
            </a:rPr>
            <a:t>English Text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8FB289-E794-4642-8DDD-C904EAA92F54}" type="parTrans" cxnId="{577DF68C-522B-7B44-A1C7-161280908B68}">
      <dgm:prSet/>
      <dgm:spPr/>
      <dgm:t>
        <a:bodyPr/>
        <a:lstStyle/>
        <a:p>
          <a:endParaRPr lang="en-US"/>
        </a:p>
      </dgm:t>
    </dgm:pt>
    <dgm:pt modelId="{14E1D47E-6A2C-DC4A-BB29-238B6EFCF95D}" type="sibTrans" cxnId="{577DF68C-522B-7B44-A1C7-161280908B68}">
      <dgm:prSet/>
      <dgm:spPr/>
      <dgm:t>
        <a:bodyPr/>
        <a:lstStyle/>
        <a:p>
          <a:endParaRPr lang="en-US"/>
        </a:p>
      </dgm:t>
    </dgm:pt>
    <dgm:pt modelId="{EC55F618-F49F-DF49-9624-47C61E2F938F}" type="pres">
      <dgm:prSet presAssocID="{A62BDB76-3910-454C-BCE4-540157864E4F}" presName="Name0" presStyleCnt="0">
        <dgm:presLayoutVars>
          <dgm:dir/>
          <dgm:resizeHandles val="exact"/>
        </dgm:presLayoutVars>
      </dgm:prSet>
      <dgm:spPr/>
    </dgm:pt>
    <dgm:pt modelId="{FF97FB38-FB73-D84E-9D70-50985D191AE7}" type="pres">
      <dgm:prSet presAssocID="{B31943E4-1975-D547-88AD-80DC66E1AC78}" presName="node" presStyleLbl="node1" presStyleIdx="0" presStyleCnt="3">
        <dgm:presLayoutVars>
          <dgm:bulletEnabled val="1"/>
        </dgm:presLayoutVars>
      </dgm:prSet>
      <dgm:spPr/>
    </dgm:pt>
    <dgm:pt modelId="{FB354844-BC38-4042-944D-E12354EF5553}" type="pres">
      <dgm:prSet presAssocID="{3D5B17BB-6E6F-734B-BB63-9517B21606A2}" presName="sibTrans" presStyleLbl="sibTrans2D1" presStyleIdx="0" presStyleCnt="2"/>
      <dgm:spPr/>
    </dgm:pt>
    <dgm:pt modelId="{6D441204-F2D1-0E49-8FF6-6373D6861E6E}" type="pres">
      <dgm:prSet presAssocID="{3D5B17BB-6E6F-734B-BB63-9517B21606A2}" presName="connectorText" presStyleLbl="sibTrans2D1" presStyleIdx="0" presStyleCnt="2"/>
      <dgm:spPr/>
    </dgm:pt>
    <dgm:pt modelId="{686BE389-CA28-944D-990C-FE69558CBDE1}" type="pres">
      <dgm:prSet presAssocID="{DD31DF21-11D7-1446-AFC1-9378806A0F2B}" presName="node" presStyleLbl="node1" presStyleIdx="1" presStyleCnt="3">
        <dgm:presLayoutVars>
          <dgm:bulletEnabled val="1"/>
        </dgm:presLayoutVars>
      </dgm:prSet>
      <dgm:spPr/>
    </dgm:pt>
    <dgm:pt modelId="{8D43771E-B15A-B04E-BD18-2C97AAA157F6}" type="pres">
      <dgm:prSet presAssocID="{30C1FF5A-5AC3-E849-B9C4-7484F6904501}" presName="sibTrans" presStyleLbl="sibTrans2D1" presStyleIdx="1" presStyleCnt="2"/>
      <dgm:spPr/>
    </dgm:pt>
    <dgm:pt modelId="{6CA2296C-E66F-2B43-9478-A345E76C91F5}" type="pres">
      <dgm:prSet presAssocID="{30C1FF5A-5AC3-E849-B9C4-7484F6904501}" presName="connectorText" presStyleLbl="sibTrans2D1" presStyleIdx="1" presStyleCnt="2"/>
      <dgm:spPr/>
    </dgm:pt>
    <dgm:pt modelId="{C9CACEF6-C0D4-684D-B80B-A4B978E9EAEF}" type="pres">
      <dgm:prSet presAssocID="{BDB69943-89DA-6B4A-9230-E827E5325A85}" presName="node" presStyleLbl="node1" presStyleIdx="2" presStyleCnt="3" custLinFactNeighborX="837" custLinFactNeighborY="19149">
        <dgm:presLayoutVars>
          <dgm:bulletEnabled val="1"/>
        </dgm:presLayoutVars>
      </dgm:prSet>
      <dgm:spPr/>
    </dgm:pt>
  </dgm:ptLst>
  <dgm:cxnLst>
    <dgm:cxn modelId="{180EB902-847C-8C46-8DE4-7E93503FE394}" srcId="{A62BDB76-3910-454C-BCE4-540157864E4F}" destId="{B31943E4-1975-D547-88AD-80DC66E1AC78}" srcOrd="0" destOrd="0" parTransId="{7C3B447D-7156-AF4E-8578-0CED8192D315}" sibTransId="{3D5B17BB-6E6F-734B-BB63-9517B21606A2}"/>
    <dgm:cxn modelId="{FDBB7D43-19AE-6E47-BF04-AD10F5F97928}" type="presOf" srcId="{30C1FF5A-5AC3-E849-B9C4-7484F6904501}" destId="{6CA2296C-E66F-2B43-9478-A345E76C91F5}" srcOrd="1" destOrd="0" presId="urn:microsoft.com/office/officeart/2005/8/layout/process1"/>
    <dgm:cxn modelId="{B6D2AE78-B34D-6B44-81B1-42ADD7C08AC6}" type="presOf" srcId="{30C1FF5A-5AC3-E849-B9C4-7484F6904501}" destId="{8D43771E-B15A-B04E-BD18-2C97AAA157F6}" srcOrd="0" destOrd="0" presId="urn:microsoft.com/office/officeart/2005/8/layout/process1"/>
    <dgm:cxn modelId="{A590DE80-2F46-BC46-8983-204B1B1ECB95}" type="presOf" srcId="{B31943E4-1975-D547-88AD-80DC66E1AC78}" destId="{FF97FB38-FB73-D84E-9D70-50985D191AE7}" srcOrd="0" destOrd="0" presId="urn:microsoft.com/office/officeart/2005/8/layout/process1"/>
    <dgm:cxn modelId="{577DF68C-522B-7B44-A1C7-161280908B68}" srcId="{A62BDB76-3910-454C-BCE4-540157864E4F}" destId="{BDB69943-89DA-6B4A-9230-E827E5325A85}" srcOrd="2" destOrd="0" parTransId="{B18FB289-E794-4642-8DDD-C904EAA92F54}" sibTransId="{14E1D47E-6A2C-DC4A-BB29-238B6EFCF95D}"/>
    <dgm:cxn modelId="{277B0B97-AE8F-1245-9AF3-C161081B5579}" type="presOf" srcId="{3D5B17BB-6E6F-734B-BB63-9517B21606A2}" destId="{6D441204-F2D1-0E49-8FF6-6373D6861E6E}" srcOrd="1" destOrd="0" presId="urn:microsoft.com/office/officeart/2005/8/layout/process1"/>
    <dgm:cxn modelId="{8118DFA2-6618-9549-AEF7-0358A81DE235}" type="presOf" srcId="{BDB69943-89DA-6B4A-9230-E827E5325A85}" destId="{C9CACEF6-C0D4-684D-B80B-A4B978E9EAEF}" srcOrd="0" destOrd="0" presId="urn:microsoft.com/office/officeart/2005/8/layout/process1"/>
    <dgm:cxn modelId="{3AB71EAA-3E5F-C243-BBCD-7E04804AB32C}" type="presOf" srcId="{3D5B17BB-6E6F-734B-BB63-9517B21606A2}" destId="{FB354844-BC38-4042-944D-E12354EF5553}" srcOrd="0" destOrd="0" presId="urn:microsoft.com/office/officeart/2005/8/layout/process1"/>
    <dgm:cxn modelId="{60E6D5DA-1FA5-BA48-86E1-59D7F99B4671}" type="presOf" srcId="{A62BDB76-3910-454C-BCE4-540157864E4F}" destId="{EC55F618-F49F-DF49-9624-47C61E2F938F}" srcOrd="0" destOrd="0" presId="urn:microsoft.com/office/officeart/2005/8/layout/process1"/>
    <dgm:cxn modelId="{1FB8B3F1-CE3D-4C45-98C2-C9805FE462FB}" srcId="{A62BDB76-3910-454C-BCE4-540157864E4F}" destId="{DD31DF21-11D7-1446-AFC1-9378806A0F2B}" srcOrd="1" destOrd="0" parTransId="{2F7A1BB7-621E-8D41-9586-46DF89489E3A}" sibTransId="{30C1FF5A-5AC3-E849-B9C4-7484F6904501}"/>
    <dgm:cxn modelId="{1C09C8FB-3209-6A4B-82DD-ED5BDD4384AE}" type="presOf" srcId="{DD31DF21-11D7-1446-AFC1-9378806A0F2B}" destId="{686BE389-CA28-944D-990C-FE69558CBDE1}" srcOrd="0" destOrd="0" presId="urn:microsoft.com/office/officeart/2005/8/layout/process1"/>
    <dgm:cxn modelId="{DF9B8CAE-19F4-7942-9CFE-E1C879C75AF1}" type="presParOf" srcId="{EC55F618-F49F-DF49-9624-47C61E2F938F}" destId="{FF97FB38-FB73-D84E-9D70-50985D191AE7}" srcOrd="0" destOrd="0" presId="urn:microsoft.com/office/officeart/2005/8/layout/process1"/>
    <dgm:cxn modelId="{46794D17-5E3E-D349-8266-D509D19CEC27}" type="presParOf" srcId="{EC55F618-F49F-DF49-9624-47C61E2F938F}" destId="{FB354844-BC38-4042-944D-E12354EF5553}" srcOrd="1" destOrd="0" presId="urn:microsoft.com/office/officeart/2005/8/layout/process1"/>
    <dgm:cxn modelId="{969BB379-0642-B148-8249-42C5F1496337}" type="presParOf" srcId="{FB354844-BC38-4042-944D-E12354EF5553}" destId="{6D441204-F2D1-0E49-8FF6-6373D6861E6E}" srcOrd="0" destOrd="0" presId="urn:microsoft.com/office/officeart/2005/8/layout/process1"/>
    <dgm:cxn modelId="{B4627FD6-44F9-8C44-AE06-10EFF506FD1E}" type="presParOf" srcId="{EC55F618-F49F-DF49-9624-47C61E2F938F}" destId="{686BE389-CA28-944D-990C-FE69558CBDE1}" srcOrd="2" destOrd="0" presId="urn:microsoft.com/office/officeart/2005/8/layout/process1"/>
    <dgm:cxn modelId="{E1A954C0-E9E2-4448-BC16-0BCF0EEAF9A8}" type="presParOf" srcId="{EC55F618-F49F-DF49-9624-47C61E2F938F}" destId="{8D43771E-B15A-B04E-BD18-2C97AAA157F6}" srcOrd="3" destOrd="0" presId="urn:microsoft.com/office/officeart/2005/8/layout/process1"/>
    <dgm:cxn modelId="{07A816B1-AD54-FA4D-BFC1-082C9BB458D5}" type="presParOf" srcId="{8D43771E-B15A-B04E-BD18-2C97AAA157F6}" destId="{6CA2296C-E66F-2B43-9478-A345E76C91F5}" srcOrd="0" destOrd="0" presId="urn:microsoft.com/office/officeart/2005/8/layout/process1"/>
    <dgm:cxn modelId="{EA74B1AE-F61F-194E-A58C-2FC55BB796DD}" type="presParOf" srcId="{EC55F618-F49F-DF49-9624-47C61E2F938F}" destId="{C9CACEF6-C0D4-684D-B80B-A4B978E9EAE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7FB38-FB73-D84E-9D70-50985D191AE7}">
      <dsp:nvSpPr>
        <dsp:cNvPr id="0" name=""/>
        <dsp:cNvSpPr/>
      </dsp:nvSpPr>
      <dsp:spPr>
        <a:xfrm>
          <a:off x="9242" y="0"/>
          <a:ext cx="2762398" cy="1161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Cantonese / Azerbaijani Speech 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259" y="34017"/>
        <a:ext cx="2694364" cy="1093381"/>
      </dsp:txXfrm>
    </dsp:sp>
    <dsp:sp modelId="{FB354844-BC38-4042-944D-E12354EF5553}">
      <dsp:nvSpPr>
        <dsp:cNvPr id="0" name=""/>
        <dsp:cNvSpPr/>
      </dsp:nvSpPr>
      <dsp:spPr>
        <a:xfrm>
          <a:off x="3047880" y="238170"/>
          <a:ext cx="585628" cy="6850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047880" y="375185"/>
        <a:ext cx="409940" cy="411044"/>
      </dsp:txXfrm>
    </dsp:sp>
    <dsp:sp modelId="{686BE389-CA28-944D-990C-FE69558CBDE1}">
      <dsp:nvSpPr>
        <dsp:cNvPr id="0" name=""/>
        <dsp:cNvSpPr/>
      </dsp:nvSpPr>
      <dsp:spPr>
        <a:xfrm>
          <a:off x="3876600" y="0"/>
          <a:ext cx="2762398" cy="1161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Pretrained Whisper Small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10617" y="34017"/>
        <a:ext cx="2694364" cy="1093381"/>
      </dsp:txXfrm>
    </dsp:sp>
    <dsp:sp modelId="{8D43771E-B15A-B04E-BD18-2C97AAA157F6}">
      <dsp:nvSpPr>
        <dsp:cNvPr id="0" name=""/>
        <dsp:cNvSpPr/>
      </dsp:nvSpPr>
      <dsp:spPr>
        <a:xfrm>
          <a:off x="6917549" y="238170"/>
          <a:ext cx="590526" cy="6850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917549" y="375185"/>
        <a:ext cx="413368" cy="411044"/>
      </dsp:txXfrm>
    </dsp:sp>
    <dsp:sp modelId="{C9CACEF6-C0D4-684D-B80B-A4B978E9EAEF}">
      <dsp:nvSpPr>
        <dsp:cNvPr id="0" name=""/>
        <dsp:cNvSpPr/>
      </dsp:nvSpPr>
      <dsp:spPr>
        <a:xfrm>
          <a:off x="7753201" y="0"/>
          <a:ext cx="2762398" cy="1161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English Text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87218" y="34017"/>
        <a:ext cx="2694364" cy="1093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26DFE-7886-2A45-9509-E54C5EECA92B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6D376-49ED-F54C-8969-B2C3A6887AC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386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FE24-D557-8ACB-DA89-BA3364EAC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2A1A5-1968-7A8D-FC5A-C6159CF07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05446-6433-9F4D-9DFE-C5C5D72C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778DD-5C33-2E2B-50EC-16334EA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721-8C74-7E52-AB96-A7BD9015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749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E7E2-DF3D-D24F-4063-2B403CD7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30A8B-FD12-08BD-CC11-8A8865336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6797A-247B-790E-E5E5-3C91A07D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449F-AF42-B593-1CDA-5FA39BF2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43F8D-BF20-435F-7F1B-63D79705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400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6B82-1E4A-2337-8D91-81776E59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A09D5-3501-2CBA-7945-25B18C554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33C4B-7083-48BB-ADE3-B37D9FD8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E7135-B9E3-213B-C27B-7C10B8C1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1BD92-7DDB-BDCF-5DDD-69701B59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064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343C-D38A-102E-6FAB-7EEC2CD2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F4C98-942B-16D7-91FE-AC2858CB5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09EA6-D7E2-6715-5274-6E5EA5A78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B0937-BF4D-0175-8BBC-51E48402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DD982-849D-7056-E3E6-E07D3B45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EE28A-1194-4D39-C7E4-714F132A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57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F94A-2A07-2147-D7BE-2D890147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11D-95AA-09C8-D8BC-1ADCDA156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8F09C-B485-BCB5-FC8F-BB14057BF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8DA63-1A49-857C-8EC7-B56E693D9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FD115-83A0-534D-F75F-63D596943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ED411-D498-3E28-58EC-8372A7F4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95681-81E0-7889-165C-5858D9E3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60A95-7E34-F310-11E7-6D4B129F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694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432C-9FBB-D59B-4DC0-2F92500C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3B31D-8243-4355-B942-C5F5E8E5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82AA2-39A4-34C4-0B2B-EBF42894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A7666-71E6-4F0B-DB16-83B0F75F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245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4E3D4-27C3-BB9B-3F98-3AA08CD6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69A90-851F-4621-6853-81BCD6B0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0EF71-0E71-5034-DF4D-F9A13B96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58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67A5-FD81-412C-C58B-E1194DD6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86F29-2A8A-B951-E25B-C54951C5E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3AE57-F7A2-E218-BCE5-66D6BC1A2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D7048-4BC0-36D5-DAAC-9B85512D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8B827-12C8-B4EC-DA8D-75B13860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3DB92-E518-4DBD-F442-EA0B49BE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371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945E-E577-49C9-86B0-C6722118E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D86D2-6CC4-36A6-F897-5383A4A0D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51621-1268-B1EC-D56E-CB5C13981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593EA-B2F8-CDDC-01B7-6FB7B692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BBB3B-0D97-B91A-143F-1EAF1003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4287D-5B21-FDEF-B4CA-9C8BD3F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558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5097-BA4D-1FE1-BDD5-3CA4DE3E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8EEE6-E43B-8508-D461-93663D28E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C12EF-FB31-5B10-277F-2F5CA8F1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E86B-5998-0337-7D0C-88D396E4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01555-1CA5-BBE5-B2B6-C8FABE29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63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D2D531-8C7D-8FBE-442E-3814ECA8A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60052-15C1-E632-7570-28821B228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DEF1-7B5F-FEAD-BED3-3CA9B26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75E0-D114-800D-FD17-C833EB71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8A0CE-9CC6-3DF4-0E55-2841F058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18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16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D7957-5EA4-7559-C839-BA937E08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288C8-961A-0810-A4DA-CEF94700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3CC57-8A2E-CA40-BBC6-8A781FC4A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18E0A-4AB0-9943-8116-4920FF50F828}" type="datetimeFigureOut">
              <a:rPr lang="en-CN" smtClean="0"/>
              <a:t>2026/7/18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040A-2309-1760-8972-EB04AA07B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3A05-8A44-7B08-5338-E8032AF32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8DC2F-F3C1-834A-BBF7-2C5DC8950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464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84896A-E410-4F1A-BCF9-D3AB27CC8CE9}"/>
              </a:ext>
            </a:extLst>
          </p:cNvPr>
          <p:cNvSpPr>
            <a:spLocks noGrp="1"/>
          </p:cNvSpPr>
          <p:nvPr/>
        </p:nvSpPr>
        <p:spPr>
          <a:xfrm>
            <a:off x="838200" y="701040"/>
            <a:ext cx="6858000" cy="25908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595959"/>
                </a:solidFill>
              </a:defRPr>
            </a:pPr>
            <a:r>
              <a:rPr sz="1020" b="1">
                <a:solidFill>
                  <a:srgbClr val="595959"/>
                </a:solidFill>
              </a:rPr>
              <a:t>AUTOMATIC SPEECH PROCESSING ·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0917F-F8AE-42DA-8AFA-D816D4EDF3F8}"/>
              </a:ext>
            </a:extLst>
          </p:cNvPr>
          <p:cNvSpPr>
            <a:spLocks noGrp="1"/>
          </p:cNvSpPr>
          <p:nvPr/>
        </p:nvSpPr>
        <p:spPr>
          <a:xfrm>
            <a:off x="838200" y="2068829"/>
            <a:ext cx="7848600" cy="1943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725" b="1">
                <a:solidFill>
                  <a:srgbClr val="000000"/>
                </a:solidFill>
              </a:defRPr>
            </a:pPr>
            <a:r>
              <a:rPr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Translation</a:t>
            </a:r>
            <a:r>
              <a:rPr lang="zh-CN" altLang="en-US"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English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024299-C193-4EC9-8BE0-7E5FA1AD79FF}"/>
              </a:ext>
            </a:extLst>
          </p:cNvPr>
          <p:cNvSpPr>
            <a:spLocks noGrp="1"/>
          </p:cNvSpPr>
          <p:nvPr/>
        </p:nvSpPr>
        <p:spPr>
          <a:xfrm>
            <a:off x="838200" y="3124199"/>
            <a:ext cx="5916930" cy="99061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963E9-F4FF-426E-8396-08D0EC427F94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10695432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>
                <a:solidFill>
                  <a:srgbClr val="333333"/>
                </a:solidFill>
              </a:defRPr>
            </a:pPr>
            <a:r>
              <a:rPr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cascaded ASR–MT with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25">
                <a:solidFill>
                  <a:srgbClr val="333333"/>
                </a:solidFill>
              </a:defRPr>
            </a:pPr>
            <a:r>
              <a:rPr lang="en-US" altLang="zh-CN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ine-tuned direct Whisper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BB419-DE84-44D6-A206-75FBBD6B7183}"/>
              </a:ext>
            </a:extLst>
          </p:cNvPr>
          <p:cNvSpPr>
            <a:spLocks noGrp="1"/>
          </p:cNvSpPr>
          <p:nvPr/>
        </p:nvSpPr>
        <p:spPr>
          <a:xfrm>
            <a:off x="838200" y="5067299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000000"/>
                </a:solidFill>
              </a:defRPr>
            </a:pPr>
            <a:r>
              <a:rPr sz="1260" b="1">
                <a:solidFill>
                  <a:srgbClr val="000000"/>
                </a:solidFill>
              </a:rPr>
              <a:t>Lara Husain  ·  Luting Hou  ·  Guo Tian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0F5F9-3C89-45E5-B268-7C4E54F43A73}"/>
              </a:ext>
            </a:extLst>
          </p:cNvPr>
          <p:cNvSpPr>
            <a:spLocks noGrp="1"/>
          </p:cNvSpPr>
          <p:nvPr/>
        </p:nvSpPr>
        <p:spPr>
          <a:xfrm>
            <a:off x="838200" y="5577840"/>
            <a:ext cx="7239000" cy="27432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>
                <a:solidFill>
                  <a:srgbClr val="595959"/>
                </a:solidFill>
              </a:defRPr>
            </a:pPr>
            <a:r>
              <a:rPr sz="1020" dirty="0">
                <a:solidFill>
                  <a:srgbClr val="595959"/>
                </a:solidFill>
              </a:rPr>
              <a:t>University of Tübingen  ·  July 2026</a:t>
            </a:r>
          </a:p>
        </p:txBody>
      </p:sp>
    </p:spTree>
    <p:extLst>
      <p:ext uri="{BB962C8B-B14F-4D97-AF65-F5344CB8AC3E}">
        <p14:creationId xmlns:p14="http://schemas.microsoft.com/office/powerpoint/2010/main" val="105105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AEE2-C948-D764-B08C-B532F6A34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94695F-8D24-5AB2-704F-64DC57ADC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marL="0" indent="0">
              <a:buNone/>
            </a:pP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Cantonese / North Azerbaijani speech → English text</a:t>
            </a:r>
          </a:p>
          <a:p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pipelines: </a:t>
            </a:r>
          </a:p>
          <a:p>
            <a:pPr marL="0" indent="0">
              <a:buNone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ASR-MT, DST, baseline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Evaluation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Dataset: FLEURS </a:t>
            </a:r>
          </a:p>
          <a:p>
            <a:pPr marL="0" lvl="0" indent="0">
              <a:buNone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Metric: WER for ASR; BLEU for speech translation</a:t>
            </a:r>
          </a:p>
          <a:p>
            <a:pPr marL="0" lvl="0" indent="0">
              <a:buNone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Additional analysis: qualitative error analysis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249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0C5D-215C-6D9A-2C80-62297F1E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DA12C-B12D-C27C-9963-2DF45CFF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encoder–decoder Transformer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</a:t>
            </a: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680,000 hours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labelled audio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ASR and speech translation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direction: </a:t>
            </a: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→ English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and task tokens specify the required output </a:t>
            </a:r>
          </a:p>
          <a:p>
            <a:pPr lvl="0"/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Small: 244M parameters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6152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BCB05-15EA-FCC6-ED5D-239D7CF35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077" y="473640"/>
            <a:ext cx="7976443" cy="5715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A850A-3C76-3775-ACA8-B98085365030}"/>
              </a:ext>
            </a:extLst>
          </p:cNvPr>
          <p:cNvSpPr txBox="1"/>
          <p:nvPr/>
        </p:nvSpPr>
        <p:spPr>
          <a:xfrm>
            <a:off x="4893650" y="6189155"/>
            <a:ext cx="198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Radford et al. 2023</a:t>
            </a:r>
          </a:p>
        </p:txBody>
      </p:sp>
    </p:spTree>
    <p:extLst>
      <p:ext uri="{BB962C8B-B14F-4D97-AF65-F5344CB8AC3E}">
        <p14:creationId xmlns:p14="http://schemas.microsoft.com/office/powerpoint/2010/main" val="1599221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FC7C5-9EFE-2CDC-B3E6-AE54F7B4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FBFC-9B14-6C42-A18E-C151C28D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speech dataset covering </a:t>
            </a: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 languages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translated Wikipedia sentences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Recordings from multiple speakers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sampled at </a:t>
            </a: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kHz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</a:t>
            </a:r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train, validation and test splits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both: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transcriptions </a:t>
            </a:r>
          </a:p>
          <a:p>
            <a:pPr lvl="1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reference translations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3083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92B6-A46C-B55B-A85C-23FD6143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0F769ED-EC90-13E0-8D13-CA44638F7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054550"/>
              </p:ext>
            </p:extLst>
          </p:nvPr>
        </p:nvGraphicFramePr>
        <p:xfrm>
          <a:off x="838200" y="1825624"/>
          <a:ext cx="10732008" cy="43416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6290">
                  <a:extLst>
                    <a:ext uri="{9D8B030D-6E8A-4147-A177-3AD203B41FA5}">
                      <a16:colId xmlns:a16="http://schemas.microsoft.com/office/drawing/2014/main" val="36775491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2569981"/>
                    </a:ext>
                  </a:extLst>
                </a:gridCol>
                <a:gridCol w="3655314">
                  <a:extLst>
                    <a:ext uri="{9D8B030D-6E8A-4147-A177-3AD203B41FA5}">
                      <a16:colId xmlns:a16="http://schemas.microsoft.com/office/drawing/2014/main" val="2529280591"/>
                    </a:ext>
                  </a:extLst>
                </a:gridCol>
                <a:gridCol w="3248406">
                  <a:extLst>
                    <a:ext uri="{9D8B030D-6E8A-4147-A177-3AD203B41FA5}">
                      <a16:colId xmlns:a16="http://schemas.microsoft.com/office/drawing/2014/main" val="348679999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1828021940"/>
                    </a:ext>
                  </a:extLst>
                </a:gridCol>
                <a:gridCol w="1226058">
                  <a:extLst>
                    <a:ext uri="{9D8B030D-6E8A-4147-A177-3AD203B41FA5}">
                      <a16:colId xmlns:a16="http://schemas.microsoft.com/office/drawing/2014/main" val="1922070973"/>
                    </a:ext>
                  </a:extLst>
                </a:gridCol>
              </a:tblGrid>
              <a:tr h="866970">
                <a:tc>
                  <a:txBody>
                    <a:bodyPr/>
                    <a:lstStyle/>
                    <a:p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aw_transcription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28553"/>
                  </a:ext>
                </a:extLst>
              </a:tr>
              <a:tr h="1511693"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1740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金 字 塔 的 聲 光 秀 對 小 孩 來 說 是 該 地 區 最 有 趣 的 東 西 之 一</a:t>
                      </a:r>
                      <a:endParaRPr lang="en-CN"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金字塔的聲光秀對小孩來說是該地區最有趣的東西之一。</a:t>
                      </a:r>
                      <a:endParaRPr lang="en-CN"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Chinese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028761"/>
                  </a:ext>
                </a:extLst>
              </a:tr>
              <a:tr h="1259253"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1817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yenə də şengen zonası bu baxımdan bir qədər tək dövlət funksiyasına malikdir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Yenə də, Şengen zonası bu baxımdan bir qədər tək dövlət funksiyasına malikdir.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Azerbaijani</a:t>
                      </a:r>
                      <a:endParaRPr lang="en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84759"/>
                  </a:ext>
                </a:extLst>
              </a:tr>
            </a:tbl>
          </a:graphicData>
        </a:graphic>
      </p:graphicFrame>
      <p:pic>
        <p:nvPicPr>
          <p:cNvPr id="8" name="cantonese_example.wav">
            <a:hlinkClick r:id="" action="ppaction://media"/>
            <a:extLst>
              <a:ext uri="{FF2B5EF4-FFF2-40B4-BE49-F238E27FC236}">
                <a16:creationId xmlns:a16="http://schemas.microsoft.com/office/drawing/2014/main" id="{C210943F-EEAA-99E6-44B4-20B5CF4AE4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66837" y="3022600"/>
            <a:ext cx="812800" cy="812800"/>
          </a:xfrm>
          <a:prstGeom prst="rect">
            <a:avLst/>
          </a:prstGeom>
        </p:spPr>
      </p:pic>
      <p:pic>
        <p:nvPicPr>
          <p:cNvPr id="9" name="azerbaijani_example.wav">
            <a:hlinkClick r:id="" action="ppaction://media"/>
            <a:extLst>
              <a:ext uri="{FF2B5EF4-FFF2-40B4-BE49-F238E27FC236}">
                <a16:creationId xmlns:a16="http://schemas.microsoft.com/office/drawing/2014/main" id="{55842782-53D6-623B-7835-02EFC108BCF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66837" y="481209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3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2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10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62903C-DA12-FF11-8761-F398E5D3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99" y="1594103"/>
            <a:ext cx="10226802" cy="443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588348-1902-CBEE-9DCC-EA2C25D21258}"/>
              </a:ext>
            </a:extLst>
          </p:cNvPr>
          <p:cNvSpPr txBox="1"/>
          <p:nvPr/>
        </p:nvSpPr>
        <p:spPr>
          <a:xfrm>
            <a:off x="829056" y="464182"/>
            <a:ext cx="10034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26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B3C1-50E2-8631-BE8A-801DD56A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vs. Direct Speech Translation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C755950-88B6-AD2C-A7A2-E0986DA8B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758625"/>
              </p:ext>
            </p:extLst>
          </p:nvPr>
        </p:nvGraphicFramePr>
        <p:xfrm>
          <a:off x="838200" y="2157094"/>
          <a:ext cx="10515600" cy="30194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708632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80745799"/>
                    </a:ext>
                  </a:extLst>
                </a:gridCol>
              </a:tblGrid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Cascaded ASR–MT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Speech Translation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487467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 → ASR → source text → MT → 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 → Whisper → English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770389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separate ASR and MT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one encoder–decoder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095395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Intermediate transcription is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intermediate transcription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01750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 errors may propagate to 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 learn the speech-to-English mapping directly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6957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C129117-9330-86E3-850F-713238151F31}"/>
              </a:ext>
            </a:extLst>
          </p:cNvPr>
          <p:cNvSpPr txBox="1"/>
          <p:nvPr/>
        </p:nvSpPr>
        <p:spPr>
          <a:xfrm>
            <a:off x="838200" y="5569545"/>
            <a:ext cx="106260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approach: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ASR model + existing MT model </a:t>
            </a:r>
          </a:p>
          <a:p>
            <a:pPr lvl="0"/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approach: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pretrained or fine-tuned Whisper Small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4104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AE24-DC66-BF85-6280-C9EF1EA5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AFA667-8A07-25B4-37E4-DD1D0E606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616164"/>
              </p:ext>
            </p:extLst>
          </p:nvPr>
        </p:nvGraphicFramePr>
        <p:xfrm>
          <a:off x="838200" y="2414016"/>
          <a:ext cx="10515600" cy="31973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562080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7371729"/>
                    </a:ext>
                  </a:extLst>
                </a:gridCol>
              </a:tblGrid>
              <a:tr h="7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Cantonese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Azerbaijani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60310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included in Whisper’s speech-translation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Included in Whisper’s speech-translation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282688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new translation 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previously seen translation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975192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language required by the 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comparison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389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80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CEE1-FC55-9109-76AE-C8A13F74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D429-D97B-0BBD-9C0F-403A79D0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the fine-tuned direct ST model and the cascaded ASR–MT pipeline perform compared with the pretrained Whisper baseline?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approach performs better: fine-tuned direct speech translation or cascaded ASR–MT? </a:t>
            </a:r>
          </a:p>
          <a:p>
            <a:pPr lvl="0"/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the performance patterns differ between Cantonese and Azerbaijani, given their different levels of representation in Whisper’s translation training? 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44253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F4205F-D04B-4C74-23C3-99818CE13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797" y="326136"/>
            <a:ext cx="11032405" cy="620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6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BAA2-95E9-6D1B-6A41-B5E2C2A3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Whisper Baseline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A42D29-595D-C6C9-3346-3814A742D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409895"/>
              </p:ext>
            </p:extLst>
          </p:nvPr>
        </p:nvGraphicFramePr>
        <p:xfrm>
          <a:off x="838200" y="1825625"/>
          <a:ext cx="10515600" cy="1161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41D1C0-0B50-E88E-1397-9DF50388A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707420"/>
              </p:ext>
            </p:extLst>
          </p:nvPr>
        </p:nvGraphicFramePr>
        <p:xfrm>
          <a:off x="838200" y="3512248"/>
          <a:ext cx="10268712" cy="1913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34356">
                  <a:extLst>
                    <a:ext uri="{9D8B030D-6E8A-4147-A177-3AD203B41FA5}">
                      <a16:colId xmlns:a16="http://schemas.microsoft.com/office/drawing/2014/main" val="709473801"/>
                    </a:ext>
                  </a:extLst>
                </a:gridCol>
                <a:gridCol w="5134356">
                  <a:extLst>
                    <a:ext uri="{9D8B030D-6E8A-4147-A177-3AD203B41FA5}">
                      <a16:colId xmlns:a16="http://schemas.microsoft.com/office/drawing/2014/main" val="99929334"/>
                    </a:ext>
                  </a:extLst>
                </a:gridCol>
              </a:tblGrid>
              <a:tr h="637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Cantonese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Azerbaijani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973674"/>
                  </a:ext>
                </a:extLst>
              </a:tr>
              <a:tr h="637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BLEU 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BLEU 5.80</a:t>
                      </a:r>
                      <a:r>
                        <a:rPr lang="en-US" altLang="zh-CN" sz="2400" b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N" sz="2400" b="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472589"/>
                  </a:ext>
                </a:extLst>
              </a:tr>
              <a:tr h="637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Unseen translation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Seen during translation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7871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C970B1-EFE6-BEB3-CE51-3DD40042E5BB}"/>
              </a:ext>
            </a:extLst>
          </p:cNvPr>
          <p:cNvSpPr txBox="1"/>
          <p:nvPr/>
        </p:nvSpPr>
        <p:spPr>
          <a:xfrm>
            <a:off x="838200" y="593467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¹ Radford et al. 2023</a:t>
            </a:r>
            <a:r>
              <a:rPr lang="en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55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</Words>
  <Application>Microsoft Macintosh PowerPoint</Application>
  <PresentationFormat>Widescreen</PresentationFormat>
  <Paragraphs>89</Paragraphs>
  <Slides>12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Project overview</vt:lpstr>
      <vt:lpstr>Whisper</vt:lpstr>
      <vt:lpstr>PowerPoint Presentation</vt:lpstr>
      <vt:lpstr>FLEURS</vt:lpstr>
      <vt:lpstr>Examples</vt:lpstr>
      <vt:lpstr>PowerPoint Presentation</vt:lpstr>
      <vt:lpstr>Cascaded vs. Direct Speech Translation</vt:lpstr>
      <vt:lpstr>Language Selection</vt:lpstr>
      <vt:lpstr>Research Questions</vt:lpstr>
      <vt:lpstr>PowerPoint Presentation</vt:lpstr>
      <vt:lpstr>Pretrained Whisper Baseline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 Tian</dc:creator>
  <cp:lastModifiedBy>Guo Tian</cp:lastModifiedBy>
  <cp:revision>2</cp:revision>
  <dcterms:created xsi:type="dcterms:W3CDTF">2026-07-18T11:43:30Z</dcterms:created>
  <dcterms:modified xsi:type="dcterms:W3CDTF">2026-07-18T14:37:19Z</dcterms:modified>
</cp:coreProperties>
</file>